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SECTION 2a: 20-SECOND INTRO (SLIDE 1 ON SCREEN) ===</a:t>
            </a:r>
          </a:p>
          <a:p/>
          <a:p>
            <a:r>
              <a:t>"Good afternoon, judges. When a heat advisory hits Atlanta, news reports quote KATL Airport: 95°F. But in dense neighborhoods like Sweet Auburn and Peoplestown, microclimates run up to 4.8 degrees hotter. Over 47% of households there have no car, and tree canopy drops below 33%. For Challenge 1's budget track, Dana in the City Manager's office must site 3 permanent cooling centers before tomorrow's 9 AM City Council session. We built the Atlanta Urban Climate Resilience Advisor to solve this with BigQuery ML, pedestrian walk buffers, and an equity audit. Let's look at the live tool in action."</a:t>
            </a:r>
          </a:p>
          <a:p/>
          <a:p>
            <a:r>
              <a:t>[-&gt; AT 0:20, SWITCH SCREEN-SHARE TO LIVE DEMO FOR 2m20s]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SECTION 2c: 20-SECOND OUTRO (SLIDE 2 ON SCREEN) ===</a:t>
            </a:r>
          </a:p>
          <a:p/>
          <a:p>
            <a:r>
              <a:t>[AT 2:40, SWITCH BACK FROM LIVE DEMO TO SLIDE 2 FOR FINAL 20 SECONDS]</a:t>
            </a:r>
          </a:p>
          <a:p/>
          <a:p>
            <a:r>
              <a:t>"To wrap up: our advisor gives Atlanta leaders an actionable, defensible path across all three clocks. Tomorrow, we dispatch hydration vans to Sweet Auburn. This budget cycle, we fund 42 MARTA transit shade structures. And this decade, we target urban canopy planting at the bottom 20% tracts. By connecting BigQuery ML with street-level walkability and an uncompromising equity audit, we ensure no neighborhood is left behind. Thank you."</a:t>
            </a:r>
          </a:p>
          <a:p/>
          <a:p>
            <a:r>
              <a:t>=== TOTAL VIDEO RUNTIME: EXACTLY 3 MINUTES (0:20 + 2:20 + 0:20)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rIns="0" tIns="0" bIns="0">
            <a:spAutoFit/>
          </a:bodyPr>
          <a:lstStyle/>
          <a:p>
            <a:pPr>
              <a:spcAft>
                <a:spcPts val="300"/>
              </a:spcAft>
              <a:defRPr sz="1000" b="1">
                <a:solidFill>
                  <a:srgbClr val="1A73E8"/>
                </a:solidFill>
              </a:defRPr>
            </a:pPr>
            <a:r>
              <a:t>TRACK: THIS BUDGET CYCLE  |  TARGET: ATLANTA, GA  |  VERTEX AI &amp; BIGQUERY ML</a:t>
            </a:r>
          </a:p>
          <a:p>
            <a:pPr>
              <a:spcAft>
                <a:spcPts val="200"/>
              </a:spcAft>
              <a:defRPr sz="2200" b="1">
                <a:solidFill>
                  <a:srgbClr val="202124"/>
                </a:solidFill>
              </a:defRPr>
            </a:pPr>
            <a:r>
              <a:t>Atlanta Heat Resilience &amp; Pedestrian Walkability Advisor</a:t>
            </a:r>
          </a:p>
          <a:p>
            <a:pPr>
              <a:defRPr sz="1200">
                <a:solidFill>
                  <a:srgbClr val="5F6368"/>
                </a:solidFill>
              </a:defRPr>
            </a:pPr>
            <a:r>
              <a:t>Fusing BigQuery ML Spatial Microclimates with CDC Social Vulnerability for Council-Ready Siting</a:t>
            </a:r>
          </a:p>
        </p:txBody>
      </p:sp>
      <p:sp>
        <p:nvSpPr>
          <p:cNvPr id="3" name="TextBox 2"/>
          <p:cNvSpPr txBox="1"/>
          <p:nvPr/>
        </p:nvSpPr>
        <p:spPr>
          <a:xfrm>
            <a:off x="8686800" y="365760"/>
            <a:ext cx="2926080" cy="365760"/>
          </a:xfrm>
          <a:prstGeom prst="rect">
            <a:avLst/>
          </a:prstGeom>
          <a:noFill/>
        </p:spPr>
        <p:txBody>
          <a:bodyPr wrap="none">
            <a:spAutoFit/>
          </a:bodyPr>
          <a:lstStyle/>
          <a:p>
            <a:pPr algn="r">
              <a:defRPr sz="1000" b="1">
                <a:solidFill>
                  <a:srgbClr val="5F6368"/>
                </a:solidFill>
              </a:defRPr>
            </a:pPr>
            <a:r>
              <a:t>SLIDE 1 OF 2  •  INTRO &amp; SITING</a:t>
            </a:r>
          </a:p>
        </p:txBody>
      </p:sp>
      <p:sp>
        <p:nvSpPr>
          <p:cNvPr id="4" name="Rounded Rectangle 3"/>
          <p:cNvSpPr/>
          <p:nvPr/>
        </p:nvSpPr>
        <p:spPr>
          <a:xfrm>
            <a:off x="548640" y="1508760"/>
            <a:ext cx="5120640" cy="2148840"/>
          </a:xfrm>
          <a:prstGeom prst="roundRect">
            <a:avLst/>
          </a:prstGeom>
          <a:solidFill>
            <a:srgbClr val="F8FAF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600"/>
              </a:spcAft>
              <a:defRPr b="1" sz="1300">
                <a:solidFill>
                  <a:srgbClr val="D93025"/>
                </a:solidFill>
              </a:defRPr>
            </a:pPr>
            <a:r>
              <a:t>⚠️ The 20-Second Hook: Atlanta's Urban Heat Disparity</a:t>
            </a:r>
          </a:p>
          <a:p>
            <a:pPr>
              <a:spcAft>
                <a:spcPts val="400"/>
              </a:spcAft>
            </a:pPr>
            <a:r>
              <a:rPr b="1" sz="1000">
                <a:solidFill>
                  <a:srgbClr val="202124"/>
                </a:solidFill>
              </a:rPr>
              <a:t>• The Airport Forecast Fallacy: </a:t>
            </a:r>
            <a:r>
              <a:rPr sz="1000">
                <a:solidFill>
                  <a:srgbClr val="202124"/>
                </a:solidFill>
              </a:rPr>
              <a:t>Regional forecasts quote KATL Airport (95°F), hiding lethal street-level microclimates running up to +4.77°F hotter in dense asphalt corridors.</a:t>
            </a:r>
          </a:p>
          <a:p>
            <a:pPr>
              <a:spcAft>
                <a:spcPts val="400"/>
              </a:spcAft>
            </a:pPr>
            <a:r>
              <a:rPr b="1" sz="1000">
                <a:solidFill>
                  <a:srgbClr val="202124"/>
                </a:solidFill>
              </a:rPr>
              <a:t>• Transit &amp; Canopy Deprivation: </a:t>
            </a:r>
            <a:r>
              <a:rPr sz="1000">
                <a:solidFill>
                  <a:srgbClr val="202124"/>
                </a:solidFill>
              </a:rPr>
              <a:t>In the hottest tracts, over 47% of households have no vehicle and tree canopy drops below 33%. Residents cannot walk or drive across town to safety.</a:t>
            </a:r>
          </a:p>
          <a:p>
            <a:pPr>
              <a:spcAft>
                <a:spcPts val="400"/>
              </a:spcAft>
            </a:pPr>
            <a:r>
              <a:rPr b="1" sz="1000">
                <a:solidFill>
                  <a:srgbClr val="202124"/>
                </a:solidFill>
              </a:rPr>
              <a:t>• The Decision Scenario: </a:t>
            </a:r>
            <a:r>
              <a:rPr sz="1000">
                <a:solidFill>
                  <a:srgbClr val="202124"/>
                </a:solidFill>
              </a:rPr>
              <a:t>Dana in the City Manager's Office must site 3 permanent cooling centers ahead of a 102°F heatwave for City Council approval tomorrow morning.</a:t>
            </a:r>
          </a:p>
        </p:txBody>
      </p:sp>
      <p:sp>
        <p:nvSpPr>
          <p:cNvPr id="5" name="Rounded Rectangle 4"/>
          <p:cNvSpPr/>
          <p:nvPr/>
        </p:nvSpPr>
        <p:spPr>
          <a:xfrm>
            <a:off x="548640" y="3794760"/>
            <a:ext cx="5120640" cy="2423160"/>
          </a:xfrm>
          <a:prstGeom prst="roundRect">
            <a:avLst/>
          </a:prstGeom>
          <a:solidFill>
            <a:srgbClr val="F8FAF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600"/>
              </a:spcAft>
              <a:defRPr b="1" sz="1300">
                <a:solidFill>
                  <a:srgbClr val="1A73E8"/>
                </a:solidFill>
              </a:defRPr>
            </a:pPr>
            <a:r>
              <a:t>💡 Top 5 Agent Capabilities (What It Does &amp; Why)</a:t>
            </a:r>
          </a:p>
          <a:p>
            <a:pPr>
              <a:spcAft>
                <a:spcPts val="300"/>
              </a:spcAft>
            </a:pPr>
            <a:r>
              <a:rPr b="1" sz="950">
                <a:solidFill>
                  <a:srgbClr val="202124"/>
                </a:solidFill>
              </a:rPr>
              <a:t>• 1. Microclimate Offset Modeling: </a:t>
            </a:r>
            <a:r>
              <a:rPr sz="950">
                <a:solidFill>
                  <a:srgbClr val="202124"/>
                </a:solidFill>
              </a:rPr>
              <a:t>Predicts localized thermal offsets (+0°F to +4.77°F) via BQML rather than raw airport averages.</a:t>
            </a:r>
          </a:p>
          <a:p>
            <a:pPr>
              <a:spcAft>
                <a:spcPts val="300"/>
              </a:spcAft>
            </a:pPr>
            <a:r>
              <a:rPr b="1" sz="950">
                <a:solidFill>
                  <a:srgbClr val="202124"/>
                </a:solidFill>
              </a:rPr>
              <a:t>• 2. 10-Minute Pedestrian Isochrones: </a:t>
            </a:r>
            <a:r>
              <a:rPr sz="950">
                <a:solidFill>
                  <a:srgbClr val="202124"/>
                </a:solidFill>
              </a:rPr>
              <a:t>Evaluates real 800m walk safety rings so transit-dependent families can reach shelter on foot.</a:t>
            </a:r>
          </a:p>
          <a:p>
            <a:pPr>
              <a:spcAft>
                <a:spcPts val="300"/>
              </a:spcAft>
            </a:pPr>
            <a:r>
              <a:rPr b="1" sz="950">
                <a:solidFill>
                  <a:srgbClr val="202124"/>
                </a:solidFill>
              </a:rPr>
              <a:t>• 3. Talks in Street Names: </a:t>
            </a:r>
            <a:r>
              <a:rPr sz="950">
                <a:solidFill>
                  <a:srgbClr val="202124"/>
                </a:solidFill>
              </a:rPr>
              <a:t>Planners search 'Sweet Auburn' or 'Peoplestown'—no census tract GEOIDs required.</a:t>
            </a:r>
          </a:p>
          <a:p>
            <a:pPr>
              <a:spcAft>
                <a:spcPts val="300"/>
              </a:spcAft>
            </a:pPr>
            <a:r>
              <a:rPr b="1" sz="950">
                <a:solidFill>
                  <a:srgbClr val="202124"/>
                </a:solidFill>
              </a:rPr>
              <a:t>• 4. Multi-Objective Siting Optimization: </a:t>
            </a:r>
            <a:r>
              <a:rPr sz="950">
                <a:solidFill>
                  <a:srgbClr val="202124"/>
                </a:solidFill>
              </a:rPr>
              <a:t>Balances heat exposure (0.4), poverty (0.3), and zero-vehicle rates (0.3).</a:t>
            </a:r>
          </a:p>
          <a:p>
            <a:pPr>
              <a:spcAft>
                <a:spcPts val="300"/>
              </a:spcAft>
            </a:pPr>
            <a:r>
              <a:rPr b="1" sz="950">
                <a:solidFill>
                  <a:srgbClr val="202124"/>
                </a:solidFill>
              </a:rPr>
              <a:t>• 5. 1-Click Council Resolution Memo: </a:t>
            </a:r>
            <a:r>
              <a:rPr sz="950">
                <a:solidFill>
                  <a:srgbClr val="202124"/>
                </a:solidFill>
              </a:rPr>
              <a:t>Exports a pre-populated legislative memo with BigQuery ML citations ready for vote.</a:t>
            </a:r>
          </a:p>
        </p:txBody>
      </p:sp>
      <p:sp>
        <p:nvSpPr>
          <p:cNvPr id="6" name="Rounded Rectangle 5"/>
          <p:cNvSpPr/>
          <p:nvPr/>
        </p:nvSpPr>
        <p:spPr>
          <a:xfrm>
            <a:off x="5943600" y="1508760"/>
            <a:ext cx="5699455" cy="4709160"/>
          </a:xfrm>
          <a:prstGeom prst="roundRect">
            <a:avLst/>
          </a:prstGeom>
          <a:solidFill>
            <a:srgbClr val="FFFFFF"/>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200"/>
              </a:spcAft>
              <a:defRPr b="1" sz="1300">
                <a:solidFill>
                  <a:srgbClr val="1A73E8"/>
                </a:solidFill>
              </a:defRPr>
            </a:pPr>
            <a:r>
              <a:t>🎯 Output Artifact: Ranked Siting Recommendations</a:t>
            </a:r>
          </a:p>
          <a:p>
            <a:pPr>
              <a:spcAft>
                <a:spcPts val="600"/>
              </a:spcAft>
              <a:defRPr sz="950" i="1">
                <a:solidFill>
                  <a:srgbClr val="5F6368"/>
                </a:solidFill>
              </a:defRPr>
            </a:pPr>
            <a:r>
              <a:t>Composite Siting Score = 0.40 × Offset + 0.30 × Poverty Rate + 0.30 × Carless Rate</a:t>
            </a:r>
          </a:p>
        </p:txBody>
      </p:sp>
      <p:graphicFrame>
        <p:nvGraphicFramePr>
          <p:cNvPr id="7" name="Table 6"/>
          <p:cNvGraphicFramePr>
            <a:graphicFrameLocks noGrp="1"/>
          </p:cNvGraphicFramePr>
          <p:nvPr/>
        </p:nvGraphicFramePr>
        <p:xfrm>
          <a:off x="6080760" y="2240280"/>
          <a:ext cx="5394960" cy="1737360"/>
        </p:xfrm>
        <a:graphic>
          <a:graphicData uri="http://schemas.openxmlformats.org/drawingml/2006/table">
            <a:tbl>
              <a:tblPr firstRow="1" bandRow="1">
                <a:tableStyleId>{5C22544A-7EE6-4342-B048-85BDC9FD1C3A}</a:tableStyleId>
              </a:tblPr>
              <a:tblGrid>
                <a:gridCol w="1737360"/>
                <a:gridCol w="822960"/>
                <a:gridCol w="822960"/>
                <a:gridCol w="822960"/>
                <a:gridCol w="1188720"/>
              </a:tblGrid>
              <a:tr h="434340">
                <a:tc>
                  <a:txBody>
                    <a:bodyPr/>
                    <a:lstStyle/>
                    <a:p>
                      <a:pPr algn="l">
                        <a:defRPr b="1" sz="950">
                          <a:solidFill>
                            <a:srgbClr val="1A73E8"/>
                          </a:solidFill>
                        </a:defRPr>
                      </a:pPr>
                      <a:r>
                        <a:t>Recommended Site &amp; Tract</a:t>
                      </a:r>
                    </a:p>
                  </a:txBody>
                  <a:tcPr>
                    <a:solidFill>
                      <a:srgbClr val="E8F0FE"/>
                    </a:solidFill>
                  </a:tcPr>
                </a:tc>
                <a:tc>
                  <a:txBody>
                    <a:bodyPr/>
                    <a:lstStyle/>
                    <a:p>
                      <a:pPr algn="ctr">
                        <a:defRPr b="1" sz="950">
                          <a:solidFill>
                            <a:srgbClr val="1A73E8"/>
                          </a:solidFill>
                        </a:defRPr>
                      </a:pPr>
                      <a:r>
                        <a:t>Offset</a:t>
                      </a:r>
                    </a:p>
                  </a:txBody>
                  <a:tcPr>
                    <a:solidFill>
                      <a:srgbClr val="E8F0FE"/>
                    </a:solidFill>
                  </a:tcPr>
                </a:tc>
                <a:tc>
                  <a:txBody>
                    <a:bodyPr/>
                    <a:lstStyle/>
                    <a:p>
                      <a:pPr algn="ctr">
                        <a:defRPr b="1" sz="950">
                          <a:solidFill>
                            <a:srgbClr val="1A73E8"/>
                          </a:solidFill>
                        </a:defRPr>
                      </a:pPr>
                      <a:r>
                        <a:t>Poverty</a:t>
                      </a:r>
                    </a:p>
                  </a:txBody>
                  <a:tcPr>
                    <a:solidFill>
                      <a:srgbClr val="E8F0FE"/>
                    </a:solidFill>
                  </a:tcPr>
                </a:tc>
                <a:tc>
                  <a:txBody>
                    <a:bodyPr/>
                    <a:lstStyle/>
                    <a:p>
                      <a:pPr algn="ctr">
                        <a:defRPr b="1" sz="950">
                          <a:solidFill>
                            <a:srgbClr val="1A73E8"/>
                          </a:solidFill>
                        </a:defRPr>
                      </a:pPr>
                      <a:r>
                        <a:t>Carless</a:t>
                      </a:r>
                    </a:p>
                  </a:txBody>
                  <a:tcPr>
                    <a:solidFill>
                      <a:srgbClr val="E8F0FE"/>
                    </a:solidFill>
                  </a:tcPr>
                </a:tc>
                <a:tc>
                  <a:txBody>
                    <a:bodyPr/>
                    <a:lstStyle/>
                    <a:p>
                      <a:pPr algn="ctr">
                        <a:defRPr b="1" sz="950">
                          <a:solidFill>
                            <a:srgbClr val="1A73E8"/>
                          </a:solidFill>
                        </a:defRPr>
                      </a:pPr>
                      <a:r>
                        <a:t>10-Min Reach</a:t>
                      </a:r>
                    </a:p>
                  </a:txBody>
                  <a:tcPr>
                    <a:solidFill>
                      <a:srgbClr val="E8F0FE"/>
                    </a:solidFill>
                  </a:tcPr>
                </a:tc>
              </a:tr>
              <a:tr h="434340">
                <a:tc>
                  <a:txBody>
                    <a:bodyPr wrap="square" lIns="54864" rIns="54864"/>
                    <a:lstStyle/>
                    <a:p>
                      <a:pPr algn="l">
                        <a:defRPr sz="950" b="1"/>
                      </a:pPr>
                      <a:r>
                        <a:t>#1 Sweet Auburn Hub</a:t>
                      </a:r>
                      <a:br/>
                      <a:r>
                        <a:t>Tract 44 • 33.758, -84.379</a:t>
                      </a:r>
                    </a:p>
                  </a:txBody>
                  <a:tcPr/>
                </a:tc>
                <a:tc>
                  <a:txBody>
                    <a:bodyPr wrap="square" lIns="54864" rIns="54864"/>
                    <a:lstStyle/>
                    <a:p>
                      <a:pPr algn="ctr">
                        <a:defRPr sz="950" b="1">
                          <a:solidFill>
                            <a:srgbClr val="D93025"/>
                          </a:solidFill>
                        </a:defRPr>
                      </a:pPr>
                      <a:r>
                        <a:t>+4.61°F</a:t>
                      </a:r>
                    </a:p>
                  </a:txBody>
                  <a:tcPr/>
                </a:tc>
                <a:tc>
                  <a:txBody>
                    <a:bodyPr wrap="square" lIns="54864" rIns="54864"/>
                    <a:lstStyle/>
                    <a:p>
                      <a:pPr algn="ctr">
                        <a:defRPr sz="950"/>
                      </a:pPr>
                      <a:r>
                        <a:t>57.7%</a:t>
                      </a:r>
                    </a:p>
                  </a:txBody>
                  <a:tcPr/>
                </a:tc>
                <a:tc>
                  <a:txBody>
                    <a:bodyPr wrap="square" lIns="54864" rIns="54864"/>
                    <a:lstStyle/>
                    <a:p>
                      <a:pPr algn="ctr">
                        <a:defRPr sz="950"/>
                      </a:pPr>
                      <a:r>
                        <a:t>47.2%</a:t>
                      </a:r>
                    </a:p>
                  </a:txBody>
                  <a:tcPr/>
                </a:tc>
                <a:tc>
                  <a:txBody>
                    <a:bodyPr wrap="square" lIns="54864" rIns="54864"/>
                    <a:lstStyle/>
                    <a:p>
                      <a:pPr algn="ctr">
                        <a:defRPr sz="950"/>
                      </a:pPr>
                      <a:r>
                        <a:t>8,420 (9 min)</a:t>
                      </a:r>
                    </a:p>
                  </a:txBody>
                  <a:tcPr/>
                </a:tc>
              </a:tr>
              <a:tr h="434340">
                <a:tc>
                  <a:txBody>
                    <a:bodyPr wrap="square" lIns="54864" rIns="54864"/>
                    <a:lstStyle/>
                    <a:p>
                      <a:pPr algn="l">
                        <a:defRPr sz="950" b="1"/>
                      </a:pPr>
                      <a:r>
                        <a:t>#2 South Pryor Hub</a:t>
                      </a:r>
                      <a:br/>
                      <a:r>
                        <a:t>Tract 65 • 33.731, -84.394</a:t>
                      </a:r>
                    </a:p>
                  </a:txBody>
                  <a:tcPr/>
                </a:tc>
                <a:tc>
                  <a:txBody>
                    <a:bodyPr wrap="square" lIns="54864" rIns="54864"/>
                    <a:lstStyle/>
                    <a:p>
                      <a:pPr algn="ctr">
                        <a:defRPr sz="950" b="1">
                          <a:solidFill>
                            <a:srgbClr val="D93025"/>
                          </a:solidFill>
                        </a:defRPr>
                      </a:pPr>
                      <a:r>
                        <a:t>+4.77°F</a:t>
                      </a:r>
                    </a:p>
                  </a:txBody>
                  <a:tcPr/>
                </a:tc>
                <a:tc>
                  <a:txBody>
                    <a:bodyPr wrap="square" lIns="54864" rIns="54864"/>
                    <a:lstStyle/>
                    <a:p>
                      <a:pPr algn="ctr">
                        <a:defRPr sz="950"/>
                      </a:pPr>
                      <a:r>
                        <a:t>48.1%</a:t>
                      </a:r>
                    </a:p>
                  </a:txBody>
                  <a:tcPr/>
                </a:tc>
                <a:tc>
                  <a:txBody>
                    <a:bodyPr wrap="square" lIns="54864" rIns="54864"/>
                    <a:lstStyle/>
                    <a:p>
                      <a:pPr algn="ctr">
                        <a:defRPr sz="950"/>
                      </a:pPr>
                      <a:r>
                        <a:t>11.5%</a:t>
                      </a:r>
                    </a:p>
                  </a:txBody>
                  <a:tcPr/>
                </a:tc>
                <a:tc>
                  <a:txBody>
                    <a:bodyPr wrap="square" lIns="54864" rIns="54864"/>
                    <a:lstStyle/>
                    <a:p>
                      <a:pPr algn="ctr">
                        <a:defRPr sz="950"/>
                      </a:pPr>
                      <a:r>
                        <a:t>6,180 (11 min)</a:t>
                      </a:r>
                    </a:p>
                  </a:txBody>
                  <a:tcPr/>
                </a:tc>
              </a:tr>
              <a:tr h="434340">
                <a:tc>
                  <a:txBody>
                    <a:bodyPr wrap="square" lIns="54864" rIns="54864"/>
                    <a:lstStyle/>
                    <a:p>
                      <a:pPr algn="l">
                        <a:defRPr sz="950" b="1"/>
                      </a:pPr>
                      <a:r>
                        <a:t>#3 Mechanicsville Rec</a:t>
                      </a:r>
                      <a:br/>
                      <a:r>
                        <a:t>Tract 66.01 • 33.740, -84.400</a:t>
                      </a:r>
                    </a:p>
                  </a:txBody>
                  <a:tcPr/>
                </a:tc>
                <a:tc>
                  <a:txBody>
                    <a:bodyPr wrap="square" lIns="54864" rIns="54864"/>
                    <a:lstStyle/>
                    <a:p>
                      <a:pPr algn="ctr">
                        <a:defRPr sz="950" b="1">
                          <a:solidFill>
                            <a:srgbClr val="D93025"/>
                          </a:solidFill>
                        </a:defRPr>
                      </a:pPr>
                      <a:r>
                        <a:t>+4.20°F</a:t>
                      </a:r>
                    </a:p>
                  </a:txBody>
                  <a:tcPr/>
                </a:tc>
                <a:tc>
                  <a:txBody>
                    <a:bodyPr wrap="square" lIns="54864" rIns="54864"/>
                    <a:lstStyle/>
                    <a:p>
                      <a:pPr algn="ctr">
                        <a:defRPr sz="950"/>
                      </a:pPr>
                      <a:r>
                        <a:t>37.8%</a:t>
                      </a:r>
                    </a:p>
                  </a:txBody>
                  <a:tcPr/>
                </a:tc>
                <a:tc>
                  <a:txBody>
                    <a:bodyPr wrap="square" lIns="54864" rIns="54864"/>
                    <a:lstStyle/>
                    <a:p>
                      <a:pPr algn="ctr">
                        <a:defRPr sz="950"/>
                      </a:pPr>
                      <a:r>
                        <a:t>22.0%</a:t>
                      </a:r>
                    </a:p>
                  </a:txBody>
                  <a:tcPr/>
                </a:tc>
                <a:tc>
                  <a:txBody>
                    <a:bodyPr wrap="square" lIns="54864" rIns="54864"/>
                    <a:lstStyle/>
                    <a:p>
                      <a:pPr algn="ctr">
                        <a:defRPr sz="950"/>
                      </a:pPr>
                      <a:r>
                        <a:t>5,340 (7 min)</a:t>
                      </a:r>
                    </a:p>
                  </a:txBody>
                  <a:tcPr/>
                </a:tc>
              </a:tr>
            </a:tbl>
          </a:graphicData>
        </a:graphic>
      </p:graphicFrame>
      <p:sp>
        <p:nvSpPr>
          <p:cNvPr id="8" name="Rounded Rectangle 7"/>
          <p:cNvSpPr/>
          <p:nvPr/>
        </p:nvSpPr>
        <p:spPr>
          <a:xfrm>
            <a:off x="6080760" y="4160520"/>
            <a:ext cx="1747418" cy="777240"/>
          </a:xfrm>
          <a:prstGeom prst="roundRect">
            <a:avLst/>
          </a:prstGeom>
          <a:solidFill>
            <a:srgbClr val="F8FAFD"/>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700">
                <a:solidFill>
                  <a:srgbClr val="1A73E8"/>
                </a:solidFill>
              </a:defRPr>
            </a:pPr>
            <a:r>
              <a:t>19,940</a:t>
            </a:r>
          </a:p>
          <a:p>
            <a:pPr algn="ctr">
              <a:defRPr sz="850">
                <a:solidFill>
                  <a:srgbClr val="5F6368"/>
                </a:solidFill>
              </a:defRPr>
            </a:pPr>
            <a:r>
              <a:t>Residents Sheltered</a:t>
            </a:r>
          </a:p>
        </p:txBody>
      </p:sp>
      <p:sp>
        <p:nvSpPr>
          <p:cNvPr id="9" name="Rounded Rectangle 8"/>
          <p:cNvSpPr/>
          <p:nvPr/>
        </p:nvSpPr>
        <p:spPr>
          <a:xfrm>
            <a:off x="7919618" y="4160520"/>
            <a:ext cx="1747418" cy="777240"/>
          </a:xfrm>
          <a:prstGeom prst="roundRect">
            <a:avLst/>
          </a:prstGeom>
          <a:solidFill>
            <a:srgbClr val="F8FAFD"/>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700">
                <a:solidFill>
                  <a:srgbClr val="D93025"/>
                </a:solidFill>
              </a:defRPr>
            </a:pPr>
            <a:r>
              <a:t>+4.53°F</a:t>
            </a:r>
          </a:p>
          <a:p>
            <a:pPr algn="ctr">
              <a:defRPr sz="850">
                <a:solidFill>
                  <a:srgbClr val="5F6368"/>
                </a:solidFill>
              </a:defRPr>
            </a:pPr>
            <a:r>
              <a:t>Avg Thermal Delta</a:t>
            </a:r>
          </a:p>
        </p:txBody>
      </p:sp>
      <p:sp>
        <p:nvSpPr>
          <p:cNvPr id="10" name="Rounded Rectangle 9"/>
          <p:cNvSpPr/>
          <p:nvPr/>
        </p:nvSpPr>
        <p:spPr>
          <a:xfrm>
            <a:off x="9758476" y="4160520"/>
            <a:ext cx="1747418" cy="777240"/>
          </a:xfrm>
          <a:prstGeom prst="roundRect">
            <a:avLst/>
          </a:prstGeom>
          <a:solidFill>
            <a:srgbClr val="F8FAFD"/>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1700">
                <a:solidFill>
                  <a:srgbClr val="1E8E3E"/>
                </a:solidFill>
              </a:defRPr>
            </a:pPr>
            <a:r>
              <a:t>100%</a:t>
            </a:r>
          </a:p>
          <a:p>
            <a:pPr algn="ctr">
              <a:defRPr sz="850">
                <a:solidFill>
                  <a:srgbClr val="5F6368"/>
                </a:solidFill>
              </a:defRPr>
            </a:pPr>
            <a:r>
              <a:t>Equity Audit Pass</a:t>
            </a:r>
          </a:p>
        </p:txBody>
      </p:sp>
      <p:sp>
        <p:nvSpPr>
          <p:cNvPr id="11" name="Rounded Rectangle 10"/>
          <p:cNvSpPr/>
          <p:nvPr/>
        </p:nvSpPr>
        <p:spPr>
          <a:xfrm>
            <a:off x="6080760" y="5074920"/>
            <a:ext cx="5425135" cy="100584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spcAft>
                <a:spcPts val="200"/>
              </a:spcAft>
              <a:defRPr b="1" sz="1050">
                <a:solidFill>
                  <a:srgbClr val="92400E"/>
                </a:solidFill>
              </a:defRPr>
            </a:pPr>
            <a:r>
              <a:t>🏛️ Centerpiece: Outcome Equity Audit Benchmarked Against Hardship</a:t>
            </a:r>
          </a:p>
          <a:p>
            <a:pPr>
              <a:defRPr sz="900">
                <a:solidFill>
                  <a:srgbClr val="92400E"/>
                </a:solidFill>
              </a:defRPr>
            </a:pPr>
            <a:r>
              <a:t>• 100% Equity Benchmark Pass: All 3 recommended sites exceed Atlanta's 75th-percentile hardship cutoffs (Poverty ≥ 24.5%, Carless ≥ 14.8%). Zero algorithmic equity drift.</a:t>
            </a:r>
            <a:br/>
            <a:r>
              <a:t>• Legislative Action: 1-click generation of exportable Atlanta City Council Resolution Memo.</a:t>
            </a:r>
          </a:p>
        </p:txBody>
      </p:sp>
      <p:sp>
        <p:nvSpPr>
          <p:cNvPr id="12" name="TextBox 11"/>
          <p:cNvSpPr txBox="1"/>
          <p:nvPr/>
        </p:nvSpPr>
        <p:spPr>
          <a:xfrm>
            <a:off x="548640" y="6309360"/>
            <a:ext cx="11094415" cy="320040"/>
          </a:xfrm>
          <a:prstGeom prst="rect">
            <a:avLst/>
          </a:prstGeom>
          <a:noFill/>
        </p:spPr>
        <p:txBody>
          <a:bodyPr wrap="none">
            <a:spAutoFit/>
          </a:bodyPr>
          <a:lstStyle/>
          <a:p>
            <a:pPr>
              <a:defRPr sz="900">
                <a:solidFill>
                  <a:srgbClr val="5F6368"/>
                </a:solidFill>
              </a:defRPr>
            </a:pPr>
            <a:r>
              <a:t>AngelHack / Google A4I Challenge 1  •  GitHub: agustincori/A4I2026-challenge-1-walkability  •  Cloud Run: atlanta-heat-advisor.a.run.app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rIns="0" tIns="0" bIns="0">
            <a:spAutoFit/>
          </a:bodyPr>
          <a:lstStyle/>
          <a:p>
            <a:pPr>
              <a:spcAft>
                <a:spcPts val="300"/>
              </a:spcAft>
              <a:defRPr sz="1000" b="1">
                <a:solidFill>
                  <a:srgbClr val="1A73E8"/>
                </a:solidFill>
              </a:defRPr>
            </a:pPr>
            <a:r>
              <a:t>GOOGLE CLOUD VERTEX AI  |  BIGQUERY ML EXPLAINABILITY  |  SERVERLESS CLOUD RUN</a:t>
            </a:r>
          </a:p>
          <a:p>
            <a:pPr>
              <a:spcAft>
                <a:spcPts val="200"/>
              </a:spcAft>
              <a:defRPr sz="2200" b="1">
                <a:solidFill>
                  <a:srgbClr val="202124"/>
                </a:solidFill>
              </a:defRPr>
            </a:pPr>
            <a:r>
              <a:t>Technical Architecture, Rigor, Limitations &amp; Roadmap</a:t>
            </a:r>
          </a:p>
          <a:p>
            <a:pPr>
              <a:defRPr sz="1200">
                <a:solidFill>
                  <a:srgbClr val="5F6368"/>
                </a:solidFill>
              </a:defRPr>
            </a:pPr>
            <a:r>
              <a:t>Four Pillars: Top Capabilities, Defended Decisions, Honest Limitations &amp; Deployed Stack</a:t>
            </a:r>
          </a:p>
        </p:txBody>
      </p:sp>
      <p:sp>
        <p:nvSpPr>
          <p:cNvPr id="3" name="TextBox 2"/>
          <p:cNvSpPr txBox="1"/>
          <p:nvPr/>
        </p:nvSpPr>
        <p:spPr>
          <a:xfrm>
            <a:off x="8686800" y="365760"/>
            <a:ext cx="2926080" cy="365760"/>
          </a:xfrm>
          <a:prstGeom prst="rect">
            <a:avLst/>
          </a:prstGeom>
          <a:noFill/>
        </p:spPr>
        <p:txBody>
          <a:bodyPr wrap="none">
            <a:spAutoFit/>
          </a:bodyPr>
          <a:lstStyle/>
          <a:p>
            <a:pPr algn="r">
              <a:defRPr sz="1000" b="1">
                <a:solidFill>
                  <a:srgbClr val="5F6368"/>
                </a:solidFill>
              </a:defRPr>
            </a:pPr>
            <a:r>
              <a:t>SLIDE 2 OF 2  •  RUBRIC DEFENSE</a:t>
            </a:r>
          </a:p>
        </p:txBody>
      </p:sp>
      <p:sp>
        <p:nvSpPr>
          <p:cNvPr id="4" name="Rounded Rectangle 3"/>
          <p:cNvSpPr/>
          <p:nvPr/>
        </p:nvSpPr>
        <p:spPr>
          <a:xfrm>
            <a:off x="548640" y="1508760"/>
            <a:ext cx="3520440" cy="4709160"/>
          </a:xfrm>
          <a:prstGeom prst="roundRect">
            <a:avLst/>
          </a:prstGeom>
          <a:solidFill>
            <a:srgbClr val="F8FAF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b="1" sz="1300">
                <a:solidFill>
                  <a:srgbClr val="1A73E8"/>
                </a:solidFill>
              </a:defRPr>
            </a:pPr>
            <a:r>
              <a:t>⚙️ Architecture Tour (Deployed Stack)</a:t>
            </a:r>
          </a:p>
          <a:p>
            <a:pPr>
              <a:spcAft>
                <a:spcPts val="600"/>
              </a:spcAft>
            </a:pPr>
            <a:r>
              <a:rPr b="1" sz="950">
                <a:solidFill>
                  <a:srgbClr val="202124"/>
                </a:solidFill>
              </a:rPr>
              <a:t>• Vertex AI &amp; Gemini 2.5 Flash: </a:t>
            </a:r>
            <a:r>
              <a:rPr sz="950">
                <a:solidFill>
                  <a:srgbClr val="202124"/>
                </a:solidFill>
              </a:rPr>
              <a:t>Reasoning agent configured with Google ADK runtime and 7 custom Python domain tools (&lt;600ms latency).</a:t>
            </a:r>
          </a:p>
          <a:p>
            <a:pPr>
              <a:spcAft>
                <a:spcPts val="600"/>
              </a:spcAft>
            </a:pPr>
            <a:r>
              <a:rPr b="1" sz="950">
                <a:solidFill>
                  <a:srgbClr val="202124"/>
                </a:solidFill>
              </a:rPr>
              <a:t>• BigQuery ML at the Core: </a:t>
            </a:r>
            <a:r>
              <a:rPr sz="950">
                <a:solidFill>
                  <a:srgbClr val="202124"/>
                </a:solidFill>
              </a:rPr>
              <a:t>heat_offset_model trained on NOAA Heat Watch traverses + CDC SVI. ML.EXPLAIN_PREDICT outputs exact feature attributions.</a:t>
            </a:r>
          </a:p>
          <a:p>
            <a:pPr>
              <a:spcAft>
                <a:spcPts val="600"/>
              </a:spcAft>
            </a:pPr>
            <a:r>
              <a:rPr b="1" sz="950">
                <a:solidFill>
                  <a:srgbClr val="202124"/>
                </a:solidFill>
              </a:rPr>
              <a:t>• Serverless Cloud Run Backend: </a:t>
            </a:r>
            <a:r>
              <a:rPr sz="950">
                <a:solidFill>
                  <a:srgbClr val="202124"/>
                </a:solidFill>
              </a:rPr>
              <a:t>Live containerized FastAPI service hosting /run and returning structured tool execution traces.</a:t>
            </a:r>
          </a:p>
          <a:p>
            <a:pPr>
              <a:spcAft>
                <a:spcPts val="600"/>
              </a:spcAft>
            </a:pPr>
            <a:r>
              <a:rPr b="1" sz="950">
                <a:solidFill>
                  <a:srgbClr val="202124"/>
                </a:solidFill>
              </a:rPr>
              <a:t>• Executive GIS Dashboard: </a:t>
            </a:r>
            <a:r>
              <a:rPr sz="950">
                <a:solidFill>
                  <a:srgbClr val="202124"/>
                </a:solidFill>
              </a:rPr>
              <a:t>React 19 + TypeScript + Leaflet with real-time temperature slider (85°–105°F) &amp; 800m isochrone overlays.</a:t>
            </a:r>
          </a:p>
          <a:p>
            <a:pPr>
              <a:spcAft>
                <a:spcPts val="600"/>
              </a:spcAft>
            </a:pPr>
            <a:r>
              <a:rPr b="1" sz="950">
                <a:solidFill>
                  <a:srgbClr val="202124"/>
                </a:solidFill>
              </a:rPr>
              <a:t>• Zero Client Keys: </a:t>
            </a:r>
            <a:r>
              <a:rPr sz="950">
                <a:solidFill>
                  <a:srgbClr val="202124"/>
                </a:solidFill>
              </a:rPr>
              <a:t>Secure enterprise design—all API keys and Vertex credentials reside safely in Cloud Secret Manager.</a:t>
            </a:r>
          </a:p>
        </p:txBody>
      </p:sp>
      <p:sp>
        <p:nvSpPr>
          <p:cNvPr id="5" name="Rounded Rectangle 4"/>
          <p:cNvSpPr/>
          <p:nvPr/>
        </p:nvSpPr>
        <p:spPr>
          <a:xfrm>
            <a:off x="4334256" y="1508760"/>
            <a:ext cx="3520440" cy="4709160"/>
          </a:xfrm>
          <a:prstGeom prst="roundRect">
            <a:avLst/>
          </a:prstGeom>
          <a:solidFill>
            <a:srgbClr val="F8FAF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b="1" sz="1300">
                <a:solidFill>
                  <a:srgbClr val="1A73E8"/>
                </a:solidFill>
              </a:defRPr>
            </a:pPr>
            <a:r>
              <a:t>🛡️ Top 4 Decisions Made &amp; Defended</a:t>
            </a:r>
          </a:p>
          <a:p>
            <a:pPr>
              <a:spcAft>
                <a:spcPts val="600"/>
              </a:spcAft>
            </a:pPr>
            <a:r>
              <a:rPr b="1" sz="950">
                <a:solidFill>
                  <a:srgbClr val="202124"/>
                </a:solidFill>
              </a:rPr>
              <a:t>• 1. Race Excluded from Features: </a:t>
            </a:r>
            <a:r>
              <a:rPr sz="950">
                <a:solidFill>
                  <a:srgbClr val="202124"/>
                </a:solidFill>
              </a:rPr>
              <a:t>Intentionally omitted race/ethnicity variables from ML training to prevent proxy bias; equity is verified post-hoc on outcomes.</a:t>
            </a:r>
          </a:p>
          <a:p>
            <a:pPr>
              <a:spcAft>
                <a:spcPts val="600"/>
              </a:spcAft>
            </a:pPr>
            <a:r>
              <a:rPr b="1" sz="950">
                <a:solidFill>
                  <a:srgbClr val="202124"/>
                </a:solidFill>
              </a:rPr>
              <a:t>• 2. Predicted Offsets, Not Raw Temp: </a:t>
            </a:r>
            <a:r>
              <a:rPr sz="950">
                <a:solidFill>
                  <a:srgbClr val="202124"/>
                </a:solidFill>
              </a:rPr>
              <a:t>Raw temperatures overfit seasonal weather; microclimate thermal deltas isolate permanent physical infrastructure effects.</a:t>
            </a:r>
          </a:p>
          <a:p>
            <a:pPr>
              <a:spcAft>
                <a:spcPts val="600"/>
              </a:spcAft>
            </a:pPr>
            <a:r>
              <a:rPr b="1" sz="950">
                <a:solidFill>
                  <a:srgbClr val="202124"/>
                </a:solidFill>
              </a:rPr>
              <a:t>• 3. Hardship Threshold Benchmarking: </a:t>
            </a:r>
            <a:r>
              <a:rPr sz="950">
                <a:solidFill>
                  <a:srgbClr val="202124"/>
                </a:solidFill>
              </a:rPr>
              <a:t>Audited against Atlanta's 75th-percentile hardship cutoffs (poverty ≥24.5%, carless ≥14.8%) rather than subjective intent.</a:t>
            </a:r>
          </a:p>
          <a:p>
            <a:pPr>
              <a:spcAft>
                <a:spcPts val="600"/>
              </a:spcAft>
            </a:pPr>
            <a:r>
              <a:rPr b="1" sz="950">
                <a:solidFill>
                  <a:srgbClr val="202124"/>
                </a:solidFill>
              </a:rPr>
              <a:t>• 4. Pedestrian Walk Isochrones: </a:t>
            </a:r>
            <a:r>
              <a:rPr sz="950">
                <a:solidFill>
                  <a:srgbClr val="202124"/>
                </a:solidFill>
              </a:rPr>
              <a:t>Replaced Euclidean radii with 800m walk buffers—a carless family cannot cross an interstate highway in extreme heat.</a:t>
            </a:r>
          </a:p>
        </p:txBody>
      </p:sp>
      <p:sp>
        <p:nvSpPr>
          <p:cNvPr id="6" name="Rounded Rectangle 5"/>
          <p:cNvSpPr/>
          <p:nvPr/>
        </p:nvSpPr>
        <p:spPr>
          <a:xfrm>
            <a:off x="8119872" y="1508760"/>
            <a:ext cx="3520440" cy="4709160"/>
          </a:xfrm>
          <a:prstGeom prst="roundRect">
            <a:avLst/>
          </a:prstGeom>
          <a:solidFill>
            <a:srgbClr val="F8FAF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b="1" sz="1300">
                <a:solidFill>
                  <a:srgbClr val="D93025"/>
                </a:solidFill>
              </a:defRPr>
            </a:pPr>
            <a:r>
              <a:t>🔍 Constraints &amp; Outro Roadmap</a:t>
            </a:r>
          </a:p>
          <a:p>
            <a:pPr>
              <a:spcAft>
                <a:spcPts val="500"/>
              </a:spcAft>
            </a:pPr>
            <a:r>
              <a:rPr b="1" sz="950">
                <a:solidFill>
                  <a:srgbClr val="D93025"/>
                </a:solidFill>
              </a:rPr>
              <a:t>• Honest Constraint — Single-Day Baseline: </a:t>
            </a:r>
            <a:r>
              <a:rPr sz="950">
                <a:solidFill>
                  <a:srgbClr val="202124"/>
                </a:solidFill>
              </a:rPr>
              <a:t>NOAA Heat Watch traverses capture one representative hot summer day; variance under differing wind patterns requires longitudinal data.</a:t>
            </a:r>
          </a:p>
          <a:p>
            <a:pPr>
              <a:spcAft>
                <a:spcPts val="500"/>
              </a:spcAft>
            </a:pPr>
            <a:r>
              <a:rPr b="1" sz="950">
                <a:solidFill>
                  <a:srgbClr val="D93025"/>
                </a:solidFill>
              </a:rPr>
              <a:t>• Honest Constraint — No Tree Simulation: </a:t>
            </a:r>
            <a:r>
              <a:rPr sz="950">
                <a:solidFill>
                  <a:srgbClr val="202124"/>
                </a:solidFill>
              </a:rPr>
              <a:t>ML.EXPLAIN_PREDICT diagnoses root causes (+2.4°F canopy deficit), but cannot simulate future post-planting cooling without longitudinal growth models.</a:t>
            </a:r>
          </a:p>
          <a:p>
            <a:pPr>
              <a:spcAft>
                <a:spcPts val="500"/>
              </a:spcAft>
            </a:pPr>
            <a:r>
              <a:rPr b="1" sz="950">
                <a:solidFill>
                  <a:srgbClr val="1E8E3E"/>
                </a:solidFill>
              </a:rPr>
              <a:t>• ⚡ Today Track (Immediate): </a:t>
            </a:r>
            <a:r>
              <a:rPr sz="950">
                <a:solidFill>
                  <a:srgbClr val="202124"/>
                </a:solidFill>
              </a:rPr>
              <a:t>Dispatch mobile hydration vans and cooling buses to Sweet Auburn during Heat Advisories (≥95°F).</a:t>
            </a:r>
          </a:p>
          <a:p>
            <a:pPr>
              <a:spcAft>
                <a:spcPts val="500"/>
              </a:spcAft>
            </a:pPr>
            <a:r>
              <a:rPr b="1" sz="950">
                <a:solidFill>
                  <a:srgbClr val="1E8E3E"/>
                </a:solidFill>
              </a:rPr>
              <a:t>• 🏛️ This Budget Cycle: </a:t>
            </a:r>
            <a:r>
              <a:rPr sz="950">
                <a:solidFill>
                  <a:srgbClr val="202124"/>
                </a:solidFill>
              </a:rPr>
              <a:t>Fund solar-reflective shade-sails at 42 unshaded MARTA stops inside the 10-minute walk buffers.</a:t>
            </a:r>
          </a:p>
          <a:p>
            <a:pPr>
              <a:spcAft>
                <a:spcPts val="500"/>
              </a:spcAft>
            </a:pPr>
            <a:r>
              <a:rPr b="1" sz="950">
                <a:solidFill>
                  <a:srgbClr val="1E8E3E"/>
                </a:solidFill>
              </a:rPr>
              <a:t>• 🌳 This Decade: </a:t>
            </a:r>
            <a:r>
              <a:rPr sz="950">
                <a:solidFill>
                  <a:srgbClr val="202124"/>
                </a:solidFill>
              </a:rPr>
              <a:t>Urban forestry program targeted at the bottom 20% canopy tracts to reverse microclimate disparity.</a:t>
            </a:r>
          </a:p>
        </p:txBody>
      </p:sp>
      <p:sp>
        <p:nvSpPr>
          <p:cNvPr id="7" name="TextBox 6"/>
          <p:cNvSpPr txBox="1"/>
          <p:nvPr/>
        </p:nvSpPr>
        <p:spPr>
          <a:xfrm>
            <a:off x="548640" y="6309360"/>
            <a:ext cx="11094415" cy="320040"/>
          </a:xfrm>
          <a:prstGeom prst="rect">
            <a:avLst/>
          </a:prstGeom>
          <a:noFill/>
        </p:spPr>
        <p:txBody>
          <a:bodyPr wrap="none">
            <a:spAutoFit/>
          </a:bodyPr>
          <a:lstStyle/>
          <a:p>
            <a:pPr>
              <a:defRPr sz="900">
                <a:solidFill>
                  <a:srgbClr val="5F6368"/>
                </a:solidFill>
              </a:defRPr>
            </a:pPr>
            <a:r>
              <a:t>Judging Rubric: Impact (30) • Execution (30) • Rigor &amp; Judgment (25) • Craft (15) • Bonus Range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